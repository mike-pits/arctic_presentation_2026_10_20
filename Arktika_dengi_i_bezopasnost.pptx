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ление" id="{27dc4dba-08fe-01ae-620d-448acccc284a}">
          <p14:sldIdLst>
            <p14:sldId id="256"/>
            <p14:sldId id="257"/>
          </p14:sldIdLst>
        </p14:section>
        <p14:section name="Картина" id="{705d2267-4eda-a37f-cf4a-3c8be903f442}">
          <p14:sldIdLst>
            <p14:sldId id="258"/>
            <p14:sldId id="259"/>
          </p14:sldIdLst>
        </p14:section>
        <p14:section name="Деньги" id="{9da74fce-2bcb-7066-13bd-4f78d6d7c1ee}">
          <p14:sldIdLst>
            <p14:sldId id="260"/>
            <p14:sldId id="261"/>
            <p14:sldId id="262"/>
          </p14:sldIdLst>
        </p14:section>
        <p14:section name="Безопасность" id="{7a259277-c8f0-8cdc-895f-668ccb69fb15}">
          <p14:sldIdLst>
            <p14:sldId id="263"/>
            <p14:sldId id="264"/>
          </p14:sldIdLst>
        </p14:section>
        <p14:section name="Риски" id="{4b984e1f-d846-65ec-af76-9824f52396ec}">
          <p14:sldIdLst>
            <p14:sldId id="265"/>
            <p14:sldId id="266"/>
          </p14:sldIdLst>
        </p14:section>
        <p14:section name="Итоги" id="{8c3887d8-8e41-70e6-cc7a-78cc5e72f488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64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E1640"/>
                </a:solidFill>
                <a:latin typeface="+mn-lt"/>
              </a:rPr>
              <a:t>Грузоперевозки по СМП, млн т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млн т</c:v>
                </c:pt>
              </c:strCache>
            </c:strRef>
          </c:tx>
          <c:spPr>
            <a:solidFill>
              <a:srgbClr val="3E8E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16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2024 факт</c:v>
                  </c:pt>
                  <c:pt idx="1">
                    <c:v>2025 факт</c:v>
                  </c:pt>
                  <c:pt idx="2">
                    <c:v>2026 Минтранс</c:v>
                  </c:pt>
                  <c:pt idx="3">
                    <c:v>2026 Росатом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37.9</c:v>
                </c:pt>
                <c:pt idx="1">
                  <c:v>37</c:v>
                </c:pt>
                <c:pt idx="2">
                  <c:v>38.2</c:v>
                </c:pt>
                <c:pt idx="3">
                  <c:v>40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200" u="none">
                  <a:solidFill>
                    <a:srgbClr val="1E16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16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D5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C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64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E1640"/>
                </a:solidFill>
                <a:latin typeface="+mn-lt"/>
              </a:rPr>
              <a:t>Контейнерные рейсы китайских перевозчиков (Росатом)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рейсов</c:v>
                </c:pt>
              </c:strCache>
            </c:strRef>
          </c:tx>
          <c:spPr>
            <a:solidFill>
              <a:srgbClr val="6B5CA5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16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 план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14</c:v>
                </c:pt>
                <c:pt idx="2">
                  <c:v>24</c:v>
                </c:pt>
                <c:pt idx="3">
                  <c:v>30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1E16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16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D5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C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64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E1640"/>
                </a:solidFill>
                <a:latin typeface="+mn-lt"/>
              </a:rPr>
              <a:t>Суточный тариф проводки новыми ледоколами, млн ₽ в сутки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млн ₽/сут</c:v>
                </c:pt>
              </c:strCache>
            </c:strRef>
          </c:tx>
          <c:spPr>
            <a:solidFill>
              <a:srgbClr val="3E8E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16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Готовы платить грузоотправители</c:v>
                  </c:pt>
                  <c:pt idx="1">
                    <c:v>Расчёт со сбором</c:v>
                  </c:pt>
                  <c:pt idx="2">
                    <c:v>Расчёт без сбора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15.7</c:v>
                </c:pt>
                <c:pt idx="1">
                  <c:v>16</c:v>
                </c:pt>
                <c:pt idx="2">
                  <c:v>52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200" u="none">
                  <a:solidFill>
                    <a:srgbClr val="1E16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16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D5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C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[0:30] Добрый день, коллеги. Меня зовут Михаил Георгиевич Пицуков, я менеджер департамента танкерных перевозок. Тема — Арктика через призму двух вещей, которые в нашей профессии вечно спорят: деньги и безопасность. Формат: 15 минут рассказа, по ходу несколько вопросов к залу — отвечайте с места, мне важнее ваш опыт, чем мой слайд. Потом 15 минут обсуждения. Данные — на октябрь 2026, по официальным источникам: Росатом, Минтранс, Минвостокразвития, Правительство, плюс международные для сверки. Где источники расходятся — скажу прямо.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Интерактив №1. Дайте залу 20-30 секунд, посчитайте руки. Не раскрывайте ответ — вернёмся на слайде «Что на самом деле везут». Подсказка на случай тишины: в публичных разговорах про Севморпуть чаще всего слышен именно транзит.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[1:30] 2024 — рекорд, 37,9 млн т. 2025 — чуть ниже, около 37 (Росатом называет 37,02; в отдельных обзорах встречается 36,2 — разная методика: грузооборот против объёма перевозок). 2026: Росатом обещает больше 40 млн т, Минтранс осторожнее — 38,2. С начала года темп действительно выше прошлогоднего: на конец августа около 25 млн т, +16–17%. Но напомню: в 2018 году ставили цель 80 млн т к 2024-му. До сих пор меньше половины. Поэтому ключевой вопрос не «растёт ли», а «что именно растёт и кто за это платит».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[1:30] Возвращаемся к вопросу. Правильный ответ — Б: сквозной транзит по Севморпути — 3,2 млн т из 37, то есть меньше 9%. Основа потока — вывоз углеводородов (по данным Востокгосплана, 86% потока — СПГ, нефть, нефтепродукты) и северный завоз. Россия—Китай — ещё 5,4 млн т, около 15%. Откуда 103 прохода: это не контейнерные рейсы. По оценке CHNL (не официальные данные) в 2025 г. это 34 танкера, 23 навалочных судна, 15 контейнеровозов, 12 судов генгруза, 7 рыболовных, 5 газовозов, 3 рефрижераторных и 4 прочих. Считаются проходы в обе стороны, многие — в балласте. Отдельно, контейнерные рейсы китайских перевозчиков (7, 14, 24 и план 30+) — другая статистика Росатома: туда входят и рейсы между портами России и Китая, не только транзит Азия–Европа. Методики разные, поэтому цифры не складываются. Про −18,3%: это абсолютный объём перевалки сухих грузов в портах Арктического бассейна (АСОП): 21,3 млн т в 2025 г. против 26 млн т годом ранее; за 10 месяцев было −16,4%. Это не доля, а именно падение тонн; и это порты Арктики (Мурманск, Архангельск, Сабетта и др.), а не только трасса СМП. Вопрос залу: кто видит этот спад в своих рейсах?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[1:30] Государство здесь не фон, а участник каждого рейса. Правила плавания — постановление Правительства № 1487 от 18 сентября 2020 года, действует до 1 марта 2028-го; значит в ближайшие полтора года ждите новой редакции. Разрешение на плавание выдаёт Администрация СМП, то есть структура Росатома. Росатомфлот водит ледоколы. С 1 января 2026 года «Росатом Арктика» — единый морской оператор северного завоза. Минтранс и МЧС отвечают за аварийно-спасательную готовность. Мысль для зала: чем больше функций у одного игрока, тем важнее для нас предсказуемость тарифов и сроков. Вопрос: кто в вашей практике чаще всего «узкое горлышко» — разрешение, проводка или погода?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[1:45] Это самый денежный слайд. Группировка растёт: зимой 2024 года работало восемь атомных ледоколов — исторический максимум; цель — 17 к 2030-му, 18 к 2035-му. Два новых ледокола проекта 22220 строит Балтийский завод: «Ленинград» (сдача декабрь 2028) и «Сталинград» (декабрь 2030). Они дорожают: по данным dp.ru «Ленинград» оценивался в 56,6 млрд, сейчас около 61,3; Балтзавод допускал рост цены до 30%. Как читать график. Все три столбца — суточный тариф проводки новыми ледоколами в млн рублей. Левый, 15,7, — максимум, который готовы платить грузоотправители. Средний, 16, — расчёт тарифа, если ввести сбор. Правый, 52, — расчёт, если ледоколы окупать только через тариф, без внешнего финансирования. Это цифры из публикаций Коммерсанта и The Insider по документам Минтранса; официально не принято, перед докладом перепроверьте. Сбор — 20,07 рубля за тонну экспортного груза до конца 2036 года, платить будут 27 компаний; предлагают также фиксированный тариф с 2028 года. Интерактив №2: кто должен платить? Капитаны и береговой офис часто отвечают по-разному.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[1:45] Теперь про нас. Два танкера, два сезона. Лето — северный завоз: с 1 января 2026 года единый морской оператор — «Росатом Арктика», на 2026 год подтверждено более 264 тысяч тонн, на 65% больше, чем в 2025-м. Окно короткое, график зависит от льда. Зима — вывоз конденсата с Ямал СПГ и Арктик СПГ-2: здесь работает исключительное право российского флага, но главные расходы и риски — ледокольная проводка и ледовый класс. Арктик СПГ-2 под санкциями, отгрузки при этом растут: 3,6 млн т СПГ к 12 октября против 1,4 за весь 2025 год. Формула внизу — рабочая модель, не источник: считаем маржу сезона по каждому рейсу. Вопрос залу: какая часть зимней маржи уходит на проводку и ожидание ледокола?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[1:30] Четыре замка, которые нельзя открыть в обход. Первый — судно: Polar Ship Certificate и PWOM. PWOM — Polar Water Operational Manual, руководство по эксплуатации судна в полярных водах: документ, который судовладелец готовит под конкретное судно и район плавания на основе оценки рисков, он входит в пакет для получения сертификата. Категории A, B, C — по ледовой прочности. Второй — разрешение Администрации СМП. Третий — проводка, ледокольная и ледовая лоцманская. Четвёртый — экипаж: подготовка по Полярному кодексу, в STCW есть базовый уровень для вахтенных помощников и повышенный для капитанов и старших помощников. Экономия на любом из замков — это не экономия, а рассрочка по гораздо более дорогому платежу. Вопрос капитанам: какой из четырёх замков в реальной практике «скрипит» больше всего?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[1:30] Самое частое заблуждение: «льда стало меньше — стало проще». По NSIDC зимний максимум 2026 года, 14,29 млн кв. км, почти рекордно низкий. Сентябрь 2026 по Met Office: среднее 5,34 млн кв. км — 16-й минимум за 48 лет спутниковых наблюдений (1979–2026), то есть льда много меньше, чем в 1980–2000-х, но пятый по величине с 2007 года; лето было холодное и штормовое. Лёд меньше, но менее предсказуем: торосы, дрейф. «5 + 5»: замминистра транспорта Пошивай на ВЭФ сообщил, что в 2025–2026 годах принято пять ледовых спасательных судов, а до конца 2027 года планируется принять ещё пять буксиров. Тезис про спасательный флот: он растёт, но речь о десятке единиц на акваторию в тысячи километров, и отраслевые материалы прямо говорят, что нужно больше аварийно-спасательных формирований. Поэтому помощь рядом не гарантирована, и автономность — наша ответственность. Рост флота — аргумент в пользу будущего, не в пользу сегодняшнего рейса. 14 октября Северный флот учился спасать танкер в Карском море. Вопрос залу: что для вас — стоп-сигнал?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Коротко, как договаривались. Три вещи. Первое — флаг: по закону перевозка нефти, газа, СПГ, конденсата и угля по СМП — только суда под российским флагом; требование строить такие суда в России с 1 марта 2026 года планировали, в 2025 году речь шла об отсрочке на два года, статус надо проверить в актуальной редакции. Второе — Арктик СПГ-2: отгрузки растут (3,6 млн т к 12 октября против 1,4 млн т за весь 2025 год), но идут через перевалку и под санкциями. Третье — наш практический вывод, это не цитата из источника: любой рейс в этом сегменте начинается с проверки контрагента, страхования и платежей. Не вдаюсь глубоко — вопросы в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[1:30] Попытка свести всё в одну рамку. Это предложение для обсуждения, не норматив. Зелёный — все замки открыты. Жёлтый — чего-то не хватает, и деньги тратятся на ожидание. Красный — безопасность не закрыта, экономика не рассматривается. Главная мысль: порядок. Сначала safety даёт зелёный, потом считаем деньги. Если сначала считать деньги, под любую цифру найдётся причина «рискнуть». Интерактив №3: предложите зал поправить критерии. Что вы бы переместили из жёлтого в красный?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 + 15 мин Q&amp;A] Три мысли. Поток держится на внутренних отгрузках, не на транзите; 40+ млн т — это прогноз Росатома на 2026 год, Минтранс осторожнее (38,2). Деньги: ледокольная проводка дорожает; речь о проекте ледосбора на достройку ледоколов — 20,07 рубля за тонну экспортного груза до 2036 года — и о новом тарифе. Safety — порядок: сначала закрыть замки, потом считать. Дальше ваши вопросы. Если пауза — используйте три заготовленных. Приложение с источниками — на следующем слайде.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для приложения, на докладе не показывать. Здесь список источников и пунктов, которые нужно сверить с первоисточниками перед выступлением.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1323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3" name="Image 0" descr="/home/user/arctic_presentation_2026_10_20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01168"/>
            <a:ext cx="914400" cy="6099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1323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Shape 0"/>
          <p:cNvSpPr/>
          <p:nvPr/>
        </p:nvSpPr>
        <p:spPr>
          <a:xfrm>
            <a:off x="7699248" y="155448"/>
            <a:ext cx="1060704" cy="71323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/home/user/arctic_presentation_2026_10_20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01168"/>
            <a:ext cx="914400" cy="6099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E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63040" cy="97840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user/arctic_presentation_2026_10_20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02336"/>
            <a:ext cx="1371600" cy="91440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1600200"/>
            <a:ext cx="56692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уга 1"/>
          <p:cNvSpPr/>
          <p:nvPr/>
        </p:nvSpPr>
        <p:spPr>
          <a:xfrm>
            <a:off x="5120640" y="-1097280"/>
            <a:ext cx="6217920" cy="6217920"/>
          </a:xfrm>
          <a:prstGeom prst="ellipse">
            <a:avLst/>
          </a:prstGeom>
          <a:ln w="19050">
            <a:solidFill>
              <a:schemeClr val="accent3"/>
            </a:solidFill>
            <a:prstDash val="solid"/>
          </a:ln>
        </p:spPr>
      </p:sp>
      <p:sp>
        <p:nvSpPr>
          <p:cNvPr id="3" name="Дуга 2"/>
          <p:cNvSpPr/>
          <p:nvPr/>
        </p:nvSpPr>
        <p:spPr>
          <a:xfrm>
            <a:off x="5943600" y="-274320"/>
            <a:ext cx="4572000" cy="4572000"/>
          </a:xfrm>
          <a:prstGeom prst="ellipse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4" name="Дуга 3"/>
          <p:cNvSpPr/>
          <p:nvPr/>
        </p:nvSpPr>
        <p:spPr>
          <a:xfrm>
            <a:off x="6858000" y="640080"/>
            <a:ext cx="2743200" cy="2743200"/>
          </a:xfrm>
          <a:prstGeom prst="ellipse">
            <a:avLst/>
          </a:prstGeom>
          <a:ln w="19050">
            <a:solidFill>
              <a:schemeClr val="accent4"/>
            </a:solidFill>
            <a:prstDash val="solid"/>
          </a:ln>
        </p:spPr>
      </p:sp>
      <p:sp>
        <p:nvSpPr>
          <p:cNvPr id="5" name="Точка"/>
          <p:cNvSpPr/>
          <p:nvPr/>
        </p:nvSpPr>
        <p:spPr>
          <a:xfrm>
            <a:off x="8092440" y="187452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1"/>
          <p:cNvSpPr/>
          <p:nvPr>
            <p:ph idx="102" type="title" hasCustomPrompt="1"/>
          </p:nvPr>
        </p:nvSpPr>
        <p:spPr>
          <a:xfrm>
            <a:off x="548640" y="16002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Арктика: деньги и безопасность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Государство, ледоколы, экономика рейса и safety first: где проходит баланс для нашего флота на трассе Севморпути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033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Пицуков Михаил Георгиевич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959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менеджер департамента танкерных перевозок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Северный проект  ·  Доклад для капитанов и берегового офиса  ·  октябрь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Начнём с вопроса залу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Какая доля грузов на Севморпути — транзит (сквозной проход трассы)?</a:t>
            </a:r>
            <a:endParaRPr lang="en-US" sz="2400" dirty="0"/>
          </a:p>
        </p:txBody>
      </p:sp>
      <p:sp>
        <p:nvSpPr>
          <p:cNvPr id="4" name="Вариант А"/>
          <p:cNvSpPr/>
          <p:nvPr/>
        </p:nvSpPr>
        <p:spPr>
          <a:xfrm>
            <a:off x="457200" y="2377440"/>
            <a:ext cx="192024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468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54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около 3%</a:t>
            </a:r>
            <a:endParaRPr lang="en-US" sz="1800" dirty="0"/>
          </a:p>
        </p:txBody>
      </p:sp>
      <p:sp>
        <p:nvSpPr>
          <p:cNvPr id="7" name="Вариант Б"/>
          <p:cNvSpPr/>
          <p:nvPr/>
        </p:nvSpPr>
        <p:spPr>
          <a:xfrm>
            <a:off x="2542032" y="2377440"/>
            <a:ext cx="192024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42032" y="2468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542032" y="3154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около 9%</a:t>
            </a:r>
            <a:endParaRPr lang="en-US" sz="1800" dirty="0"/>
          </a:p>
        </p:txBody>
      </p:sp>
      <p:sp>
        <p:nvSpPr>
          <p:cNvPr id="10" name="Вариант В"/>
          <p:cNvSpPr/>
          <p:nvPr/>
        </p:nvSpPr>
        <p:spPr>
          <a:xfrm>
            <a:off x="4626864" y="2377440"/>
            <a:ext cx="192024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6864" y="2468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3154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около 25%</a:t>
            </a:r>
            <a:endParaRPr lang="en-US" sz="1800" dirty="0"/>
          </a:p>
        </p:txBody>
      </p:sp>
      <p:sp>
        <p:nvSpPr>
          <p:cNvPr id="13" name="Вариант Г"/>
          <p:cNvSpPr/>
          <p:nvPr/>
        </p:nvSpPr>
        <p:spPr>
          <a:xfrm>
            <a:off x="6711696" y="2377440"/>
            <a:ext cx="192024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11696" y="2468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711696" y="3154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около 50%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Голосуем поднятием руки. Ответ — через пару слайдов.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Объёмы: плато и ставка на рост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754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Показатель"/>
          <p:cNvSpPr/>
          <p:nvPr/>
        </p:nvSpPr>
        <p:spPr>
          <a:xfrm>
            <a:off x="5486400" y="1188720"/>
            <a:ext cx="32004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623560" y="12618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+16–17%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623560" y="1810512"/>
            <a:ext cx="2926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 2025 г.: около 25 млн т на конец августа</a:t>
            </a:r>
            <a:endParaRPr lang="en-US" sz="1400" dirty="0"/>
          </a:p>
        </p:txBody>
      </p:sp>
      <p:sp>
        <p:nvSpPr>
          <p:cNvPr id="7" name="Показатель"/>
          <p:cNvSpPr/>
          <p:nvPr/>
        </p:nvSpPr>
        <p:spPr>
          <a:xfrm>
            <a:off x="5486400" y="2377440"/>
            <a:ext cx="32004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23560" y="24505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млн т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623560" y="2999232"/>
            <a:ext cx="2926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цель на 2024 г. (2018). Факт: 37,9</a:t>
            </a:r>
            <a:endParaRPr lang="en-US" sz="1400" dirty="0"/>
          </a:p>
        </p:txBody>
      </p:sp>
      <p:sp>
        <p:nvSpPr>
          <p:cNvPr id="10" name="Показатель"/>
          <p:cNvSpPr/>
          <p:nvPr/>
        </p:nvSpPr>
        <p:spPr>
          <a:xfrm>
            <a:off x="5486400" y="3566160"/>
            <a:ext cx="32004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23560" y="36393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110–150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5623560" y="4187952"/>
            <a:ext cx="2926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млн т к 2035 г., официальные сценарии</a:t>
            </a:r>
            <a:endParaRPr lang="en-US" sz="1400" dirty="0"/>
          </a:p>
        </p:txBody>
      </p:sp>
      <p:sp>
        <p:nvSpPr>
          <p:cNvPr id="13" name="Источник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Источники: Росатом, Минтранс (прогнозы, интервью А. Лихачева, 2025–26), Carnegie для сверки факта 2025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Что на самом деле везут</a:t>
            </a:r>
            <a:endParaRPr lang="en-US" sz="2800" dirty="0"/>
          </a:p>
        </p:txBody>
      </p:sp>
      <p:sp>
        <p:nvSpPr>
          <p:cNvPr id="3" name="Показатель"/>
          <p:cNvSpPr/>
          <p:nvPr/>
        </p:nvSpPr>
        <p:spPr>
          <a:xfrm>
            <a:off x="457200" y="109728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704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 млн т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19072"/>
            <a:ext cx="2377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сквозной транзит, 103 прохода в обе стороны: менее 9%</a:t>
            </a:r>
            <a:endParaRPr lang="en-US" sz="1400" dirty="0"/>
          </a:p>
        </p:txBody>
      </p:sp>
      <p:sp>
        <p:nvSpPr>
          <p:cNvPr id="6" name="Показатель"/>
          <p:cNvSpPr/>
          <p:nvPr/>
        </p:nvSpPr>
        <p:spPr>
          <a:xfrm>
            <a:off x="3246120" y="109728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83280" y="11704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 млн т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719072"/>
            <a:ext cx="2377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порты России и Китая: около 15% потока</a:t>
            </a:r>
            <a:endParaRPr lang="en-US" sz="1400" dirty="0"/>
          </a:p>
        </p:txBody>
      </p:sp>
      <p:sp>
        <p:nvSpPr>
          <p:cNvPr id="9" name="Показатель"/>
          <p:cNvSpPr/>
          <p:nvPr/>
        </p:nvSpPr>
        <p:spPr>
          <a:xfrm>
            <a:off x="6035040" y="109728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72200" y="11704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−18,3%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719072"/>
            <a:ext cx="2377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сухие грузы в портах Арктики: 21,3 млн т, 2025 к 2024</a:t>
            </a:r>
            <a:endParaRPr lang="en-US" sz="1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57200" y="2560320"/>
          <a:ext cx="448056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Вывод"/>
          <p:cNvSpPr/>
          <p:nvPr/>
        </p:nvSpPr>
        <p:spPr>
          <a:xfrm>
            <a:off x="5120640" y="256032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257800" y="265176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Что это значит для нас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Основа потока — внутренние отгрузки (СПГ, конденсат, уголь), а не транзит.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Наши танкеры работают в основном сегменте: зимой конденсат Ямала, летом северный завоз.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Сухие грузы пока слабое звено.</a:t>
            </a:r>
            <a:endParaRPr lang="en-US" sz="1400" dirty="0"/>
          </a:p>
        </p:txBody>
      </p:sp>
      <p:sp>
        <p:nvSpPr>
          <p:cNvPr id="15" name="Источник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Источники: Росатом; АСОП (порты); CHNL (состав 103 проходов, не официальные данные); Carnegie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Государство: кто за что отвечает</a:t>
            </a:r>
            <a:endParaRPr lang="en-US" sz="2800" dirty="0"/>
          </a:p>
        </p:txBody>
      </p:sp>
      <p:sp>
        <p:nvSpPr>
          <p:cNvPr id="3" name="Карточка"/>
          <p:cNvSpPr/>
          <p:nvPr/>
        </p:nvSpPr>
        <p:spPr>
          <a:xfrm>
            <a:off x="457200" y="118872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" name="Номер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Правительство и Минтранс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7744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Правила плавания (ПП № 1487 от 18.09.2020, действуют до 01.03.2028). Безопасность, спасательный флот.</a:t>
            </a:r>
            <a:endParaRPr lang="en-US" sz="1200" dirty="0"/>
          </a:p>
        </p:txBody>
      </p:sp>
      <p:sp>
        <p:nvSpPr>
          <p:cNvPr id="8" name="Карточка"/>
          <p:cNvSpPr/>
          <p:nvPr/>
        </p:nvSpPr>
        <p:spPr>
          <a:xfrm>
            <a:off x="2542032" y="118872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9" name="Номер"/>
          <p:cNvSpPr/>
          <p:nvPr/>
        </p:nvSpPr>
        <p:spPr>
          <a:xfrm>
            <a:off x="2679192" y="1325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7919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Росатом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79192" y="237744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Администрация СМП выдаёт разрешения; «Росатомфлот» водит ледоколы; «Росатом Арктика» единый оператор северного завоза с 2026 г.</a:t>
            </a:r>
            <a:endParaRPr lang="en-US" sz="1200" dirty="0"/>
          </a:p>
        </p:txBody>
      </p:sp>
      <p:sp>
        <p:nvSpPr>
          <p:cNvPr id="13" name="Карточка"/>
          <p:cNvSpPr/>
          <p:nvPr/>
        </p:nvSpPr>
        <p:spPr>
          <a:xfrm>
            <a:off x="4626864" y="118872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4" name="Номер"/>
          <p:cNvSpPr/>
          <p:nvPr/>
        </p:nvSpPr>
        <p:spPr>
          <a:xfrm>
            <a:off x="4764024" y="1325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64024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764024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Минвостокразвития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64024" y="237744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Развитие Арктики и грузопоток; позиция по тарифам на ледокольную проводку.</a:t>
            </a:r>
            <a:endParaRPr lang="en-US" sz="1200" dirty="0"/>
          </a:p>
        </p:txBody>
      </p:sp>
      <p:sp>
        <p:nvSpPr>
          <p:cNvPr id="18" name="Карточка"/>
          <p:cNvSpPr/>
          <p:nvPr/>
        </p:nvSpPr>
        <p:spPr>
          <a:xfrm>
            <a:off x="6711696" y="118872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9" name="Номер"/>
          <p:cNvSpPr/>
          <p:nvPr/>
        </p:nvSpPr>
        <p:spPr>
          <a:xfrm>
            <a:off x="6848856" y="1325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48856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48856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МЧС и Северный флот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48856" y="237744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Поиск и спасение, учения. Последнее: 14.10.2026 в Карском море.</a:t>
            </a:r>
            <a:endParaRPr lang="en-US" sz="1200" dirty="0"/>
          </a:p>
        </p:txBody>
      </p:sp>
      <p:sp>
        <p:nvSpPr>
          <p:cNvPr id="23" name="Карточка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Для нас: правила пишет Минтранс, допуск и проводку даёт Росатом, а цену проводки ещё решают</a:t>
            </a:r>
            <a:endParaRPr lang="en-US" sz="1400" dirty="0"/>
          </a:p>
        </p:txBody>
      </p:sp>
      <p:sp>
        <p:nvSpPr>
          <p:cNvPr id="25" name="Источник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Источники: Правительство РФ, Минтранс, Росатом, Минвостокразвития; Interfax, Коммерсантъ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Ледоколы: кто платит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42976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2918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Слева: максимум, который готовы платить грузоотправители. В центре: расчёт тарифа при введении сбора. Справа: расчёт без внешнего финансирования.</a:t>
            </a:r>
            <a:endParaRPr lang="en-US" sz="1100" dirty="0"/>
          </a:p>
        </p:txBody>
      </p:sp>
      <p:sp>
        <p:nvSpPr>
          <p:cNvPr id="5" name="Карточка"/>
          <p:cNvSpPr/>
          <p:nvPr/>
        </p:nvSpPr>
        <p:spPr>
          <a:xfrm>
            <a:off x="4937760" y="1188720"/>
            <a:ext cx="374904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74920" y="12801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17 ледоколов к 2030 г., 18 к 2035 г.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«Ленинград» (сдача 12.2028) и «Сталинград» (12.2030), проект 22220: стоимость растёт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Проект сбора на их достройку: 20,07 ₽ за тонну экспортного груза до 2036 г., 27 компаний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«Лидер»: по словам В. Путина, к 2030 г.</a:t>
            </a:r>
            <a:endParaRPr lang="en-US" sz="1400" dirty="0"/>
          </a:p>
        </p:txBody>
      </p:sp>
      <p:sp>
        <p:nvSpPr>
          <p:cNvPr id="7" name="Вопрос залу"/>
          <p:cNvSpPr/>
          <p:nvPr/>
        </p:nvSpPr>
        <p:spPr>
          <a:xfrm>
            <a:off x="457200" y="402336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Вопрос залу: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кто должен платить за ледоколы: бюджет, грузоотправитель или судовладелец?</a:t>
            </a:r>
            <a:endParaRPr lang="en-US" sz="1400" dirty="0"/>
          </a:p>
        </p:txBody>
      </p:sp>
      <p:sp>
        <p:nvSpPr>
          <p:cNvPr id="9" name="Источник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Источники: Коммерсантъ, The Insider (проект Минтранса, не документ в силе), dp.ru, Балтийский завод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Наши танкеры: лето и зима</a:t>
            </a:r>
            <a:endParaRPr lang="en-US" sz="2800" dirty="0"/>
          </a:p>
        </p:txBody>
      </p:sp>
      <p:sp>
        <p:nvSpPr>
          <p:cNvPr id="3" name="Карточка"/>
          <p:cNvSpPr/>
          <p:nvPr/>
        </p:nvSpPr>
        <p:spPr>
          <a:xfrm>
            <a:off x="457200" y="1188720"/>
            <a:ext cx="402336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/>
        </p:spPr>
      </p:sp>
      <p:sp>
        <p:nvSpPr>
          <p:cNvPr id="4" name="Сезон 1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325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Лето: северный завоз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3749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«Росатом Арктика» — единый оператор северного завоза с 2026 г.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Подтверждено 264 тыс. т на 2026 г., +65% к 2025 г.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Окно короткое: график зависит от ледовой обстановки на трассе</a:t>
            </a:r>
            <a:endParaRPr lang="en-US" sz="1400" dirty="0"/>
          </a:p>
        </p:txBody>
      </p:sp>
      <p:sp>
        <p:nvSpPr>
          <p:cNvPr id="7" name="Карточка"/>
          <p:cNvSpPr/>
          <p:nvPr/>
        </p:nvSpPr>
        <p:spPr>
          <a:xfrm>
            <a:off x="4663440" y="1188720"/>
            <a:ext cx="402336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/>
        </p:spPr>
      </p:sp>
      <p:sp>
        <p:nvSpPr>
          <p:cNvPr id="8" name="Сезон 2"/>
          <p:cNvSpPr/>
          <p:nvPr/>
        </p:nvSpPr>
        <p:spPr>
          <a:xfrm>
            <a:off x="4800600" y="13258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0" y="1325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Зима: вывоз конденсата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874520"/>
            <a:ext cx="3749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Ямал СПГ и Арктик СПГ-2; перевозка конденсата только под российским флагом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Ледокольная проводка и ледовый класс — главные статьи затрат и риска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Арктик СПГ-2 под санкциями; отгрузки растут: СПГ 3,6 млн т к 12.10.2026</a:t>
            </a:r>
            <a:endParaRPr lang="en-US" sz="1400" dirty="0"/>
          </a:p>
        </p:txBody>
      </p:sp>
      <p:sp>
        <p:nvSpPr>
          <p:cNvPr id="11" name="Карточка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Маржа сезона = фрахт − (проводка + ледовые надбавки + простои + топливо). Считаем по рейсам</a:t>
            </a:r>
            <a:endParaRPr lang="en-US" sz="1400" dirty="0"/>
          </a:p>
        </p:txBody>
      </p:sp>
      <p:sp>
        <p:nvSpPr>
          <p:cNvPr id="13" name="Источник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Источники: Росатом Арктика, КТМ РФ, Reuters/LSEG; формула — рабочая модель для обсуждения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Safety first: рамка допуска</a:t>
            </a:r>
            <a:endParaRPr lang="en-US" sz="2800" dirty="0"/>
          </a:p>
        </p:txBody>
      </p:sp>
      <p:sp>
        <p:nvSpPr>
          <p:cNvPr id="3" name="Карточка"/>
          <p:cNvSpPr/>
          <p:nvPr/>
        </p:nvSpPr>
        <p:spPr>
          <a:xfrm>
            <a:off x="457200" y="1188720"/>
            <a:ext cx="1920240" cy="24688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" name="Номер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Судно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945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Polar Ship Certificate и PWOM (руководство по эксплуатации судна в полярных водах); категории A, B, C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359152" y="2240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Карточка"/>
          <p:cNvSpPr/>
          <p:nvPr/>
        </p:nvSpPr>
        <p:spPr>
          <a:xfrm>
            <a:off x="2542032" y="1188720"/>
            <a:ext cx="1920240" cy="24688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0" name="Номер"/>
          <p:cNvSpPr/>
          <p:nvPr/>
        </p:nvSpPr>
        <p:spPr>
          <a:xfrm>
            <a:off x="2679192" y="13258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7919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679192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Разрешение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679192" y="21945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Заявка в Администрацию СМП: судно, маршрут, даты плавания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43984" y="2240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›</a:t>
            </a:r>
            <a:endParaRPr lang="en-US" sz="2800" dirty="0"/>
          </a:p>
        </p:txBody>
      </p:sp>
      <p:sp>
        <p:nvSpPr>
          <p:cNvPr id="15" name="Карточка"/>
          <p:cNvSpPr/>
          <p:nvPr/>
        </p:nvSpPr>
        <p:spPr>
          <a:xfrm>
            <a:off x="4626864" y="1188720"/>
            <a:ext cx="1920240" cy="24688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6" name="Номер"/>
          <p:cNvSpPr/>
          <p:nvPr/>
        </p:nvSpPr>
        <p:spPr>
          <a:xfrm>
            <a:off x="4764024" y="13258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64024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764024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Проводка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764024" y="21945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Ледокольная и ледовая лоцманская проводка по правилам Минтранса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28816" y="2240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›</a:t>
            </a:r>
            <a:endParaRPr lang="en-US" sz="2800" dirty="0"/>
          </a:p>
        </p:txBody>
      </p:sp>
      <p:sp>
        <p:nvSpPr>
          <p:cNvPr id="21" name="Карточка"/>
          <p:cNvSpPr/>
          <p:nvPr/>
        </p:nvSpPr>
        <p:spPr>
          <a:xfrm>
            <a:off x="6711696" y="1188720"/>
            <a:ext cx="1920240" cy="24688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2" name="Номер"/>
          <p:cNvSpPr/>
          <p:nvPr/>
        </p:nvSpPr>
        <p:spPr>
          <a:xfrm>
            <a:off x="6848856" y="13258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48856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848856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Экипаж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48856" y="21945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Подготовка по Полярному кодексу, STCW: базовый и повышенный уровни</a:t>
            </a:r>
            <a:endParaRPr lang="en-US" sz="1300" dirty="0"/>
          </a:p>
        </p:txBody>
      </p:sp>
      <p:sp>
        <p:nvSpPr>
          <p:cNvPr id="26" name="Карточка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38404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Восточный сектор зимой без ледокола недоступен: лёд до 3 м. Рамка допуска не про бюрократию, а про выживаемость рейса.</a:t>
            </a:r>
            <a:endParaRPr lang="en-US" sz="1400" dirty="0"/>
          </a:p>
        </p:txBody>
      </p:sp>
      <p:sp>
        <p:nvSpPr>
          <p:cNvPr id="28" name="Источник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Источники: Полярный кодекс ИМО/СОЛАС, STCW; Правила плавания в акватории СМП (ПП РФ № 1487); Ведомости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Лёд 2026: риск не уменьшился</a:t>
            </a:r>
            <a:endParaRPr lang="en-US" sz="2800" dirty="0"/>
          </a:p>
        </p:txBody>
      </p:sp>
      <p:sp>
        <p:nvSpPr>
          <p:cNvPr id="3" name="Показатель"/>
          <p:cNvSpPr/>
          <p:nvPr/>
        </p:nvSpPr>
        <p:spPr>
          <a:xfrm>
            <a:off x="457200" y="109728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704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14,29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19072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млн км²: зимний максимум 15.03.2026, почти рекордно низкий</a:t>
            </a:r>
            <a:endParaRPr lang="en-US" sz="1400" dirty="0"/>
          </a:p>
        </p:txBody>
      </p:sp>
      <p:sp>
        <p:nvSpPr>
          <p:cNvPr id="6" name="Показатель"/>
          <p:cNvSpPr/>
          <p:nvPr/>
        </p:nvSpPr>
        <p:spPr>
          <a:xfrm>
            <a:off x="3246120" y="109728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83280" y="11704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5,34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719072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млн км²: среднее за сентябрь 2026; 16-й минимум из 48 лет (1979–2026)</a:t>
            </a:r>
            <a:endParaRPr lang="en-US" sz="1400" dirty="0"/>
          </a:p>
        </p:txBody>
      </p:sp>
      <p:sp>
        <p:nvSpPr>
          <p:cNvPr id="9" name="Показатель"/>
          <p:cNvSpPr/>
          <p:nvPr/>
        </p:nvSpPr>
        <p:spPr>
          <a:xfrm>
            <a:off x="6035040" y="109728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72200" y="11704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+ 5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719072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спасательных судов принято в 2025–26 и 5 буксиров до конца 2027</a:t>
            </a:r>
            <a:endParaRPr lang="en-US" sz="1400" dirty="0"/>
          </a:p>
        </p:txBody>
      </p:sp>
      <p:sp>
        <p:nvSpPr>
          <p:cNvPr id="12" name="Карточка"/>
          <p:cNvSpPr/>
          <p:nvPr/>
        </p:nvSpPr>
        <p:spPr>
          <a:xfrm>
            <a:off x="457200" y="2743200"/>
            <a:ext cx="82296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8346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Лето 2026 было холодным и штормовым, а не «чистым ото льда».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 2007 г. сентябрьский лёд почти не убывает: окно открывается, но непредсказуемость остаётся.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Спасательный флот растёт, но для огромной акватории его пока мало: помощь может быть далеко, нужна автономность.</a:t>
            </a:r>
            <a:endParaRPr lang="en-US" sz="1400" dirty="0"/>
          </a:p>
        </p:txBody>
      </p:sp>
      <p:sp>
        <p:nvSpPr>
          <p:cNvPr id="14" name="Вопрос залу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Вопрос залу: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какой сигнал заставит вас отложить или отменить рейс?</a:t>
            </a:r>
            <a:endParaRPr lang="en-US" sz="1400" dirty="0"/>
          </a:p>
        </p:txBody>
      </p:sp>
      <p:sp>
        <p:nvSpPr>
          <p:cNvPr id="16" name="Источник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Источники: NSIDC, Met Office (end-of-season report, окт. 2026), Минтранс (А. Пошивай, ВЭФ, сентябрь 2026), Северный флот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Флаг и санкции: коротко</a:t>
            </a:r>
            <a:endParaRPr lang="en-US" sz="2800" dirty="0"/>
          </a:p>
        </p:txBody>
      </p:sp>
      <p:sp>
        <p:nvSpPr>
          <p:cNvPr id="3" name="Карточка"/>
          <p:cNvSpPr/>
          <p:nvPr/>
        </p:nvSpPr>
        <p:spPr>
          <a:xfrm>
            <a:off x="45720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4" name="Номер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258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Флаг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74520"/>
            <a:ext cx="2377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Исключительное право судов под российским флагом на перевозку нефти, газа, СПГ, конденсата и угля по СМП: наш конденсат подпадает. Требование строить такие суда в РФ (с 01.03.2026) пытались отсрочить: статус уточнить.</a:t>
            </a:r>
            <a:endParaRPr lang="en-US" sz="1400" dirty="0"/>
          </a:p>
        </p:txBody>
      </p:sp>
      <p:sp>
        <p:nvSpPr>
          <p:cNvPr id="8" name="Карточка"/>
          <p:cNvSpPr/>
          <p:nvPr/>
        </p:nvSpPr>
        <p:spPr>
          <a:xfrm>
            <a:off x="324612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9" name="Номер"/>
          <p:cNvSpPr/>
          <p:nvPr/>
        </p:nvSpPr>
        <p:spPr>
          <a:xfrm>
            <a:off x="3383280" y="1325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13258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Арктик СПГ-2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874520"/>
            <a:ext cx="2377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3,6 млн т и 51 партия с января по 12.10.2026 (в 2025 г. было 1,4 млн т). Схема через перевалку в Мурманске и на Камчатке: санкционный контекст.</a:t>
            </a:r>
            <a:endParaRPr lang="en-US" sz="1400" dirty="0"/>
          </a:p>
        </p:txBody>
      </p:sp>
      <p:sp>
        <p:nvSpPr>
          <p:cNvPr id="13" name="Карточка"/>
          <p:cNvSpPr/>
          <p:nvPr/>
        </p:nvSpPr>
        <p:spPr>
          <a:xfrm>
            <a:off x="603504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/>
        </p:spPr>
      </p:sp>
      <p:sp>
        <p:nvSpPr>
          <p:cNvPr id="14" name="Номер"/>
          <p:cNvSpPr/>
          <p:nvPr/>
        </p:nvSpPr>
        <p:spPr>
          <a:xfrm>
            <a:off x="6172200" y="13258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72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13258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Для нас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874520"/>
            <a:ext cx="2377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Арктик СПГ-2 под санкциями: проверка контрагента, страховое покрытие, платёжный канал и порты захода. Решаем до подписания чартера.</a:t>
            </a:r>
            <a:endParaRPr lang="en-US" sz="1400" dirty="0"/>
          </a:p>
        </p:txBody>
      </p:sp>
      <p:sp>
        <p:nvSpPr>
          <p:cNvPr id="18" name="Источник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Источники: Кодекс торгового мореплавания (ст. 4), Interfax, The Moscow Times (Reuters/LSEG); третий блок — практический вывод докладчика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Светофор решения по рейсу</a:t>
            </a:r>
            <a:endParaRPr lang="en-US" sz="2800" dirty="0"/>
          </a:p>
        </p:txBody>
      </p:sp>
      <p:sp>
        <p:nvSpPr>
          <p:cNvPr id="3" name="Карточка"/>
          <p:cNvSpPr/>
          <p:nvPr/>
        </p:nvSpPr>
        <p:spPr>
          <a:xfrm>
            <a:off x="45720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4" name="Сигнал ИДТИ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ИДТИ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202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Разрешение получено, проводка подтверждена, класс и экипаж подходят, страховка и платежи закрыты, окно навигации ясное.</a:t>
            </a:r>
            <a:endParaRPr lang="en-US" sz="1600" dirty="0"/>
          </a:p>
        </p:txBody>
      </p:sp>
      <p:sp>
        <p:nvSpPr>
          <p:cNvPr id="7" name="Карточка"/>
          <p:cNvSpPr/>
          <p:nvPr/>
        </p:nvSpPr>
        <p:spPr>
          <a:xfrm>
            <a:off x="324612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8" name="Сигнал ЖДАТЬ"/>
          <p:cNvSpPr/>
          <p:nvPr/>
        </p:nvSpPr>
        <p:spPr>
          <a:xfrm>
            <a:off x="3383280" y="13258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97764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ЖДАТЬ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9202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Нет подтверждённой проводки или даты, нестабильный ледовый прогноз, не закрыт вопрос контрагента или оплаты.</a:t>
            </a:r>
            <a:endParaRPr lang="en-US" sz="1600" dirty="0"/>
          </a:p>
        </p:txBody>
      </p:sp>
      <p:sp>
        <p:nvSpPr>
          <p:cNvPr id="11" name="Карточка"/>
          <p:cNvSpPr/>
          <p:nvPr/>
        </p:nvSpPr>
        <p:spPr>
          <a:xfrm>
            <a:off x="603504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2" name="Сигнал ОТКАЗАТЬСЯ"/>
          <p:cNvSpPr/>
          <p:nvPr/>
        </p:nvSpPr>
        <p:spPr>
          <a:xfrm>
            <a:off x="6172200" y="132588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656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ОТКАЗАТЬСЯ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9202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Судно или экипаж не соответствует категории, нет автономности на задержку, страховщик не покрывает рейс.</a:t>
            </a:r>
            <a:endParaRPr lang="en-US" sz="1600" dirty="0"/>
          </a:p>
        </p:txBody>
      </p:sp>
      <p:sp>
        <p:nvSpPr>
          <p:cNvPr id="15" name="Карточка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Деньги считаем после того, как safety дало «зелёный». Это и есть баланс.</a:t>
            </a:r>
            <a:endParaRPr lang="en-US" sz="1400" dirty="0"/>
          </a:p>
        </p:txBody>
      </p:sp>
      <p:sp>
        <p:nvSpPr>
          <p:cNvPr id="17" name="Источник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Предложение докладчика для обсуждения; в основе: Полярный кодекс, Правила плавания в акватории СМП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Итоги и вопросы</a:t>
            </a:r>
            <a:endParaRPr lang="en-US" sz="2800" dirty="0"/>
          </a:p>
        </p:txBody>
      </p:sp>
      <p:sp>
        <p:nvSpPr>
          <p:cNvPr id="3" name="Итог Поток"/>
          <p:cNvSpPr/>
          <p:nvPr/>
        </p:nvSpPr>
        <p:spPr>
          <a:xfrm>
            <a:off x="457200" y="1188720"/>
            <a:ext cx="2651760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Поток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Плато около 37 млн т; Росатом прогнозирует 40+ млн т в 2026 г. Основа — внутренние отгрузки, транзит менее 9%.</a:t>
            </a:r>
            <a:endParaRPr lang="en-US" sz="1400" dirty="0"/>
          </a:p>
        </p:txBody>
      </p:sp>
      <p:sp>
        <p:nvSpPr>
          <p:cNvPr id="6" name="Итог Деньги"/>
          <p:cNvSpPr/>
          <p:nvPr/>
        </p:nvSpPr>
        <p:spPr>
          <a:xfrm>
            <a:off x="3246120" y="1188720"/>
            <a:ext cx="2651760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83280" y="1280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Деньги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7373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Проводка дорожает: проект ледосбора (20,07 ₽ за тонну экспортного груза) и новый тариф решат экономику рейса.</a:t>
            </a:r>
            <a:endParaRPr lang="en-US" sz="1400" dirty="0"/>
          </a:p>
        </p:txBody>
      </p:sp>
      <p:sp>
        <p:nvSpPr>
          <p:cNvPr id="9" name="Итог Safety"/>
          <p:cNvSpPr/>
          <p:nvPr/>
        </p:nvSpPr>
        <p:spPr>
          <a:xfrm>
            <a:off x="6035040" y="1188720"/>
            <a:ext cx="2651760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72200" y="1280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7373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Допуск, проводка, экипаж, автономность. Лёд меньше, риск не меньше.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 для обсуждения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Где граница выгодности зимнего рейса за конденсатом при росте цены проводки?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Северный завоз при едином операторе: рост загрузки или рост зависимости?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Что нам нужно от государства: тариф, график, спасательный флот?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Источники и что проверить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Государственные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Росатом / «Росатомфлот»: итоги навигации 2025, прогноз 2026 (А. Лихачев)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Минтранс: прогноз 2026, аварийно-спасательный флот, проект сбора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Минвостокразвития: контейнерные рейсы, тарифная позиция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Правительство РФ: ПП № 1487 от 18.09.2020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Международные для сверки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Carnegie, CHNL, АСОП, NSIDC, Met Office, Reuters/LSEG</a:t>
            </a:r>
            <a:endParaRPr lang="en-US" sz="1400" dirty="0"/>
          </a:p>
        </p:txBody>
      </p:sp>
      <p:sp>
        <p:nvSpPr>
          <p:cNvPr id="4" name="Карточка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846320" y="123444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5"/>
                </a:solidFill>
              </a:rPr>
              <a:t>Перед выступлением перепроверить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Итоги навигации 2026 (идёт сезон)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Статус сбора и тарифов (проект, не документ в силе)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Отсрочка требования о российской постройке судов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Цифры по сухим грузам и ледовые данные ААНИИ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Часть цифр взята из пересказов СМИ, а не из первоисточников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verny Proekt">
  <a:themeElements>
    <a:clrScheme name="Severny Proekt">
      <a:dk1>
        <a:srgbClr val="1E1640"/>
      </a:dk1>
      <a:lt1>
        <a:srgbClr val="FFFFFF"/>
      </a:lt1>
      <a:dk2>
        <a:srgbClr val="3D2F73"/>
      </a:dk2>
      <a:lt2>
        <a:srgbClr val="F0EDF7"/>
      </a:lt2>
      <a:accent1>
        <a:srgbClr val="3E8E34"/>
      </a:accent1>
      <a:accent2>
        <a:srgbClr val="E8771E"/>
      </a:accent2>
      <a:accent3>
        <a:srgbClr val="6B5CA5"/>
      </a:accent3>
      <a:accent4>
        <a:srgbClr val="B9AEE0"/>
      </a:accent4>
      <a:accent5>
        <a:srgbClr val="C0392B"/>
      </a:accent5>
      <a:accent6>
        <a:srgbClr val="2E8B5A"/>
      </a:accent6>
      <a:hlink>
        <a:srgbClr val="3E8E34"/>
      </a:hlink>
      <a:folHlink>
        <a:srgbClr val="6B5CA5"/>
      </a:folHlink>
    </a:clrScheme>
    <a:fontScheme name="Severny Proek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Арктика: деньги и безопасность</dc:title>
  <dc:subject>PptxGenJS Presentation</dc:subject>
  <dc:creator>Береговой офис</dc:creator>
  <cp:lastModifiedBy>Береговой офис</cp:lastModifiedBy>
  <cp:revision>1</cp:revision>
  <dcterms:created xsi:type="dcterms:W3CDTF">2026-10-17T15:26:01Z</dcterms:created>
  <dcterms:modified xsi:type="dcterms:W3CDTF">2026-10-17T15:26:01Z</dcterms:modified>
</cp:coreProperties>
</file>