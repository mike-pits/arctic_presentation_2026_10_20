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326af37e-68b8-d450-dcbd-b19a2b6a024a}">
          <p14:sldIdLst>
            <p14:sldId id="256"/>
            <p14:sldId id="257"/>
          </p14:sldIdLst>
        </p14:section>
        <p14:section name="Картина" id="{b5071dad-a00f-e29a-f5b8-d2f1d3f4f58b}">
          <p14:sldIdLst>
            <p14:sldId id="258"/>
            <p14:sldId id="259"/>
          </p14:sldIdLst>
        </p14:section>
        <p14:section name="Деньги" id="{e3d75881-d9ad-875d-3d10-c72882ad656b}">
          <p14:sldIdLst>
            <p14:sldId id="260"/>
            <p14:sldId id="261"/>
            <p14:sldId id="262"/>
          </p14:sldIdLst>
        </p14:section>
        <p14:section name="Безопасность" id="{b8eff3ef-b3b6-02f6-f1e4-b052381d42ad}">
          <p14:sldIdLst>
            <p14:sldId id="263"/>
            <p14:sldId id="264"/>
          </p14:sldIdLst>
        </p14:section>
        <p14:section name="Риски" id="{73241ab8-56cd-831a-f35c-1b58d283b616}">
          <p14:sldIdLst>
            <p14:sldId id="265"/>
            <p14:sldId id="266"/>
          </p14:sldIdLst>
        </p14:section>
        <p14:section name="Итоги" id="{4f4edef3-eb5d-aa2c-0076-e4d43cd9dffb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F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F33"/>
                </a:solidFill>
                <a:latin typeface="+mn-lt"/>
              </a:rPr>
              <a:t>Грузоперевозки по СМП, млн 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т</c:v>
                </c:pt>
              </c:strCache>
            </c:strRef>
          </c:tx>
          <c:spPr>
            <a:solidFill>
              <a:srgbClr val="1B9AA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1F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 факт</c:v>
                  </c:pt>
                  <c:pt idx="1">
                    <c:v>2025 факт</c:v>
                  </c:pt>
                  <c:pt idx="2">
                    <c:v>2026 Минтранс</c:v>
                  </c:pt>
                  <c:pt idx="3">
                    <c:v>2026 Росатом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37.9</c:v>
                </c:pt>
                <c:pt idx="1">
                  <c:v>37</c:v>
                </c:pt>
                <c:pt idx="2">
                  <c:v>38.2</c:v>
                </c:pt>
                <c:pt idx="3">
                  <c:v>40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0B1F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F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E6E8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F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F33"/>
                </a:solidFill>
                <a:latin typeface="+mn-lt"/>
              </a:rPr>
              <a:t>Контейнерные рейсы китайских перевозчиков по СМП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рейсов</c:v>
                </c:pt>
              </c:strCache>
            </c:strRef>
          </c:tx>
          <c:spPr>
            <a:solidFill>
              <a:srgbClr val="3E6E8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1F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план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14</c:v>
                </c:pt>
                <c:pt idx="2">
                  <c:v>24</c:v>
                </c:pt>
                <c:pt idx="3">
                  <c:v>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0B1F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F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E6E8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F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B1F33"/>
                </a:solidFill>
                <a:latin typeface="+mn-lt"/>
              </a:rPr>
              <a:t>Суточный тариф проводки новыми ледоколами, млн 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₽/сут</c:v>
                </c:pt>
              </c:strCache>
            </c:strRef>
          </c:tx>
          <c:spPr>
            <a:solidFill>
              <a:srgbClr val="1B9AA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1F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Готовы платить</c:v>
                  </c:pt>
                  <c:pt idx="1">
                    <c:v>Со сбором (расчёт)</c:v>
                  </c:pt>
                  <c:pt idx="2">
                    <c:v>Без сбора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15.7</c:v>
                </c:pt>
                <c:pt idx="1">
                  <c:v>16</c:v>
                </c:pt>
                <c:pt idx="2">
                  <c:v>52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0B1F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F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E6E8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Добрый день. Тема — Арктика через призму двух вещей, которые в нашей профессии вечно спорят: деньги и безопасность. Формат: 15 минут рассказа, по ходу несколько вопросов к залу — отвечайте с места, мне важнее ваш опыт, чем мой слайд. Потом 15 минут обсуждения. Данные — на октябрь 2026, по официальным источникам: Росатом, Минтранс, Минвостокразвития, Правительство, плюс международные для сверки. Где источники расходятся — скажу прямо.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Интерактив №1. Дайте залу 20-30 секунд, посчитайте руки. Не раскрывайте ответ — вернёмся на слайде «Что на самом деле везут». Подсказка на случай тишины: в публичных разговорах про Севморпуть чаще всего слышен именно транзит.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2024 — рекорд, 37,9 млн т. 2025 — чуть ниже, около 37 (Росатом называет 37,02; в отдельных обзорах встречается 36,2 — разная методика: грузооборот против объёма перевозок). 2026: Росатом обещает больше 40 млн т, Минтранс осторожнее — 38,2. С начала года темп действительно выше прошлогоднего: на конец августа около 25 млн т, +16–17%. Но напомню: в 2018 году ставили цель 80 млн т к 2024-му. До сих пор меньше половины. Поэтому ключевой вопрос не «растёт ли», а «что именно растёт и кто за это платит».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Возвращаемся к вопросу. Правильный ответ — Б: транзит Азия–Европа это 3,2 млн т из 37, то есть меньше 9%. Основа потока — вывоз с Ямала и Гыдана и северный завоз. Россия—Китай — ещё 5,4 млн т, около 15%. Контейнеры растут: 7, 14, 24 рейса, в 2026 планируют 30 и больше; с 15 августа 2026 первый в истории регулярный сервис Ningbo–Felixstowe с расписанием, около 21 дня в пути против 38–45 через Суэц. За сезон по данным китайской таможни — 8 рейсов и около 7,8 тыс. TEU; потом пауза до лета 2027. А вот для нас, сухогрузных, тревожный сигнал: сухие грузы в портах Арктического бассейна за 10 месяцев 2025 года упали на 16,4%. Спросите зал: кто из вас видит этот спад в своих рейсах?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Государство здесь не фон, а участник каждого рейса. Правила плавания — постановление Правительства № 1487 от 18 сентября 2020 года, действует до 1 марта 2028-го; значит в ближайшие полтора года ждите новой редакции. Разрешение на плавание выдаёт Администрация СМП, то есть структура Росатома. Росатомфлот водит ледоколы. С 1 января 2026 года «Росатом Арктика» — единый морской оператор северного завоза. Минтранс и МЧС отвечают за аварийно-спасательную готовность. Мысль для зала: чем больше функций у одного игрока, тем важнее для нас предсказуемость тарифов и сроков. Вопрос: кто в вашей практике чаще всего «узкое горлышко» — разрешение, проводка или погода?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Это самый денежный слайд. Группировка растёт: зимой 2024 года работало восемь атомных ледоколов — исторический максимум; цель — 17 к 2030-му, 18 к 2035-му. Но ледоколы дорожают: смета двух ледоколов 22220 («Ленинград» и «Сталинград») выросла со 143 до 225,6 млрд рублей. Если закладывать это в тариф без внешнего финансирования, сутки проводки обойдутся примерно в 52 млн рублей; грузоотправители готовы платить около 15,7. Разрыв предлагают закрыть сбором — 20,07 рубля за тонну экспортного груза до конца 2036 года, платить будут 27 компаний; расчётный тариф со сбором — около 16 млн. Также обсуждают фиксированный тариф с 2028 года с индексацией. Важно: это проекты и публикации СМИ со ссылкой на документы, окончательное решение смотрите в первоисточниках. Интерактив №2: кто должен платить? Дайте 2 минуты на мнения: капитаны часто отвечают иначе, чем береговой офис.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Давайте считать как судовладельцы. Выигрыш СМП — время: около 21 дня против 38–45 через Суэц (оценки по контейнерному сервису Sea Legend, 2026). Но каждая позиция справа — деньги или риск. Формула внизу — не источник, а рабочая модель: умножьте экономию дней на стоимость судо-суток вашего судна и сравните с тарифом проводки, надбавками за ледовые условия и ожидаемым простоем. Для наших двух танкеров и сухогрузов цифры разные, но логика одна. Важно, что в зимнем плавании на восточном участке без проводки не обойтись — там лёд до трёх метров. Вопрос залу: какую долю суток вы бы заложили на ожидание ледокола в расчёт?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Четыре замка, которые нельзя открыть в обход. Первый — судно: Polar Ship Certificate и PWOM, категория A, B или C по ледовой прочности. Второй — разрешение Администрации СМП. Третий — проводка, ледокольная и ледовая лоцманская. Четвёртый — экипаж: подготовка по Полярному кодексу, в STCW есть базовый уровень для вахтенных помощников и повышенный для капитанов и старших помощников. Экономия на любом из замков — это не экономия, а рассрочка по гораздо более дорогому платежу. Вопрос капитанам: какой из четырёх замков в реальной практике «скрипит» больше всего?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Самое частое заблуждение: «льда стало меньше — стало проще». По данным NSIDC зимний максимум 2026 года, 14,29 млн кв. км, почти рекордно низкий. Но по Met Office сентябрь 2026 — 5,34 млн кв. км, 16-е место снизу, и это пятый по величине с 2007 года; лето было холодное и штормовое. Лёд меньше, но менее предсказуем, с торосами и дрейфом. Спасательный флот растёт: замминистра транспорта Пошивай на ВЭФ сказал, что в 2025–2026 принято пять ледовых спасательных судов, ещё пять буксиров планируют до конца 2027 года. 14 октября Северный флот учился спасать танкер в Карском море. Для нас вывод: рассчитывать на помощь поблизости пока нельзя, значит автономность и планирование — наша ответственность. Вопрос к залу: что для вас — стоп-сигнал?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Коротко, как договаривались. Три вещи. Первое — флаг: по закону перевозка нефти, газа, СПГ, конденсата и угля по СМП — только суда под российским флагом; требование строить такие суда в России с 1 марта 2026 года планировали, в 2025 году речь шла об отсрочке на два года, статус надо проверить в актуальной редакции. Второе — Арктик СПГ-2: отгрузки растут (3,6 млн т к 12 октября против 1,4 млн т за весь 2025 год), но идут через перевалку и под санкциями. Третье — наш практический вывод, это не цитата из источника: любой рейс в этом сегменте начинается с проверки контрагента, страхования и платежей. Не вдаюсь глубоко — вопросы в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Попытка свести всё в одну рамку. Это предложение для обсуждения, не норматив. Зелёный — все замки открыты. Жёлтый — чего-то не хватает, и деньги тратятся на ожидание. Красный — безопасность не закрыта, экономика не рассматривается. Главная мысль: порядок. Сначала safety даёт зелёный, потом считаем деньги. Если сначала считать деньги, под любую цифру найдётся причина «рискнуть». Интерактив №3: предложите зал поправить критерии. Что вы бы переместили из жёлтого в красный?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+ 15 мин Q&amp;A] Три мысли. Поток держится на внутренних отгрузках, не на транзите. Деньги в проводке — следите за сбором и тарифами. Safety — порядок: сначала закрыть замки, потом считать. Дальше ваши вопросы. Если пауза — используйте три заготовленных. Приложение с источниками — на следующем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приложения, на докладе не показывать. Здесь список источников и пунктов, которые нужно сверить с первоисточниками перед выступлением.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уга 1"/>
          <p:cNvSpPr/>
          <p:nvPr/>
        </p:nvSpPr>
        <p:spPr>
          <a:xfrm>
            <a:off x="5120640" y="-1097280"/>
            <a:ext cx="6217920" cy="621792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3" name="Дуга 2"/>
          <p:cNvSpPr/>
          <p:nvPr/>
        </p:nvSpPr>
        <p:spPr>
          <a:xfrm>
            <a:off x="5943600" y="-274320"/>
            <a:ext cx="4572000" cy="4572000"/>
          </a:xfrm>
          <a:prstGeom prst="ellipse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" name="Дуга 3"/>
          <p:cNvSpPr/>
          <p:nvPr/>
        </p:nvSpPr>
        <p:spPr>
          <a:xfrm>
            <a:off x="6858000" y="640080"/>
            <a:ext cx="2743200" cy="2743200"/>
          </a:xfrm>
          <a:prstGeom prst="ellipse">
            <a:avLst/>
          </a:prstGeom>
          <a:ln w="19050">
            <a:solidFill>
              <a:schemeClr val="accent4"/>
            </a:solidFill>
            <a:prstDash val="solid"/>
          </a:ln>
        </p:spPr>
      </p:sp>
      <p:sp>
        <p:nvSpPr>
          <p:cNvPr id="5" name="Точка"/>
          <p:cNvSpPr/>
          <p:nvPr/>
        </p:nvSpPr>
        <p:spPr>
          <a:xfrm>
            <a:off x="8092440" y="187452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09728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Арктика: деньги и безопасность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Государство, ледоколы, экономика рейса и safety first: где проходит баланс для нашего флота на трассе Севморпути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Доклад для капитанов и берегового офиса  · 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Начнём с вопроса залу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Какая доля грузов на Севморпути — транзит между Азией и Европой?</a:t>
            </a:r>
            <a:endParaRPr lang="en-US" sz="2400" dirty="0"/>
          </a:p>
        </p:txBody>
      </p:sp>
      <p:sp>
        <p:nvSpPr>
          <p:cNvPr id="4" name="Вариант А"/>
          <p:cNvSpPr/>
          <p:nvPr/>
        </p:nvSpPr>
        <p:spPr>
          <a:xfrm>
            <a:off x="457200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3%</a:t>
            </a:r>
            <a:endParaRPr lang="en-US" sz="1800" dirty="0"/>
          </a:p>
        </p:txBody>
      </p:sp>
      <p:sp>
        <p:nvSpPr>
          <p:cNvPr id="7" name="Вариант Б"/>
          <p:cNvSpPr/>
          <p:nvPr/>
        </p:nvSpPr>
        <p:spPr>
          <a:xfrm>
            <a:off x="2542032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9%</a:t>
            </a:r>
            <a:endParaRPr lang="en-US" sz="1800" dirty="0"/>
          </a:p>
        </p:txBody>
      </p:sp>
      <p:sp>
        <p:nvSpPr>
          <p:cNvPr id="10" name="Вариант В"/>
          <p:cNvSpPr/>
          <p:nvPr/>
        </p:nvSpPr>
        <p:spPr>
          <a:xfrm>
            <a:off x="4626864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6864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25%</a:t>
            </a:r>
            <a:endParaRPr lang="en-US" sz="1800" dirty="0"/>
          </a:p>
        </p:txBody>
      </p:sp>
      <p:sp>
        <p:nvSpPr>
          <p:cNvPr id="13" name="Вариант Г"/>
          <p:cNvSpPr/>
          <p:nvPr/>
        </p:nvSpPr>
        <p:spPr>
          <a:xfrm>
            <a:off x="6711696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11696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50%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Голосуем поднятием руки. Ответ — через пару слайдов.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Объёмы: плато и ставка на рост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Показатель"/>
          <p:cNvSpPr/>
          <p:nvPr/>
        </p:nvSpPr>
        <p:spPr>
          <a:xfrm>
            <a:off x="5486400" y="118872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23560" y="12618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+16–17%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81051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 2025 г.: около 25 млн т на конец августа</a:t>
            </a:r>
            <a:endParaRPr lang="en-US" sz="1400" dirty="0"/>
          </a:p>
        </p:txBody>
      </p:sp>
      <p:sp>
        <p:nvSpPr>
          <p:cNvPr id="7" name="Показатель"/>
          <p:cNvSpPr/>
          <p:nvPr/>
        </p:nvSpPr>
        <p:spPr>
          <a:xfrm>
            <a:off x="5486400" y="237744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23560" y="24505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млн т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299923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цель на 2024 г. (2018). Факт: 37,9</a:t>
            </a:r>
            <a:endParaRPr lang="en-US" sz="1400" dirty="0"/>
          </a:p>
        </p:txBody>
      </p:sp>
      <p:sp>
        <p:nvSpPr>
          <p:cNvPr id="10" name="Показатель"/>
          <p:cNvSpPr/>
          <p:nvPr/>
        </p:nvSpPr>
        <p:spPr>
          <a:xfrm>
            <a:off x="5486400" y="356616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2356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110–150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418795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т к 2035 г., официальные сценарии</a:t>
            </a:r>
            <a:endParaRPr lang="en-US" sz="1400" dirty="0"/>
          </a:p>
        </p:txBody>
      </p:sp>
      <p:sp>
        <p:nvSpPr>
          <p:cNvPr id="13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Росатом, Минтранс (прогнозы, интервью А. Лихачева, 2025–26), Carnegie для сверки факта 2025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Что на самом деле везут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 млн т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транзит Азия–Европа, 103 прохода: менее 9% потока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 млн т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порты России и Китая: около 15% потока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−16,4%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сухие грузы в портах Арктики, 10 мес. 2025</a:t>
            </a:r>
            <a:endParaRPr lang="en-US" sz="14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560320"/>
          <a:ext cx="44805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Вывод"/>
          <p:cNvSpPr/>
          <p:nvPr/>
        </p:nvSpPr>
        <p:spPr>
          <a:xfrm>
            <a:off x="5120640" y="256032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57800" y="265176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это значит для нас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Основа потока — внутренние отгрузки (СПГ, нефть, уголь), а не транзит.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Контейнерный сервис Китай–Европа в 2026 стал регулярным, но сезонным.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Сухие грузы пока слабое звено.</a:t>
            </a:r>
            <a:endParaRPr lang="en-US" sz="1400" dirty="0"/>
          </a:p>
        </p:txBody>
      </p:sp>
      <p:sp>
        <p:nvSpPr>
          <p:cNvPr id="1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 (цифры 2025), Carnegie (103 прохода), Росморречфлот/АСОП по портам; Meduza, 2026 — сервис Sea Legend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Государство: кто за что отвечает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Правительство и Минтранс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Правила плавания (ПП № 1487 от 18.09.2020, действуют до 01.03.2028). Безопасность, спасательный флот.</a:t>
            </a:r>
            <a:endParaRPr lang="en-US" sz="1200" dirty="0"/>
          </a:p>
        </p:txBody>
      </p:sp>
      <p:sp>
        <p:nvSpPr>
          <p:cNvPr id="8" name="Карточка"/>
          <p:cNvSpPr/>
          <p:nvPr/>
        </p:nvSpPr>
        <p:spPr>
          <a:xfrm>
            <a:off x="2542032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Росатом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Администрация СМП выдаёт разрешения; «Росатомфлот» водит ледоколы; «Росатом Арктика» единый оператор северного завоза с 2026 г.</a:t>
            </a:r>
            <a:endParaRPr lang="en-US" sz="1200" dirty="0"/>
          </a:p>
        </p:txBody>
      </p:sp>
      <p:sp>
        <p:nvSpPr>
          <p:cNvPr id="13" name="Карточка"/>
          <p:cNvSpPr/>
          <p:nvPr/>
        </p:nvSpPr>
        <p:spPr>
          <a:xfrm>
            <a:off x="4626864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Минвостокразвития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Развитие Арктики и грузопоток; позиция по тарифам на ледокольную проводку.</a:t>
            </a:r>
            <a:endParaRPr lang="en-US" sz="1200" dirty="0"/>
          </a:p>
        </p:txBody>
      </p:sp>
      <p:sp>
        <p:nvSpPr>
          <p:cNvPr id="18" name="Карточка"/>
          <p:cNvSpPr/>
          <p:nvPr/>
        </p:nvSpPr>
        <p:spPr>
          <a:xfrm>
            <a:off x="6711696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МЧС и Северный флот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48856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Поиск и спасение, учения. Последнее: 14.10.2026 в Карском море.</a:t>
            </a:r>
            <a:endParaRPr lang="en-US" sz="1200" dirty="0"/>
          </a:p>
        </p:txBody>
      </p:sp>
      <p:sp>
        <p:nvSpPr>
          <p:cNvPr id="23" name="Карточка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Для нас: правила пишет Минтранс, допуск и проводку даёт Росатом, а цену проводки ещё решают</a:t>
            </a:r>
            <a:endParaRPr lang="en-US" sz="1400" dirty="0"/>
          </a:p>
        </p:txBody>
      </p:sp>
      <p:sp>
        <p:nvSpPr>
          <p:cNvPr id="2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Правительство РФ, Минтранс, Росатом, Минвостокразвития; Interfax, Коммерсантъ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Ледоколы: кто платит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2976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Карточка"/>
          <p:cNvSpPr/>
          <p:nvPr/>
        </p:nvSpPr>
        <p:spPr>
          <a:xfrm>
            <a:off x="4937760" y="1188720"/>
            <a:ext cx="374904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07492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17 ледоколов к 2030 г., 18 к 2035 г.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Два ледокола 22220: смета выросла со 143 до 225,6 млрд ₽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Проект сбора: 20,07 ₽ за тонну экспортного груза, до 2036 г., платят 27 компаний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«Лидер»: по словам В. Путина, к 2030 г.</a:t>
            </a:r>
            <a:endParaRPr lang="en-US" sz="1400" dirty="0"/>
          </a:p>
        </p:txBody>
      </p:sp>
      <p:sp>
        <p:nvSpPr>
          <p:cNvPr id="6" name="Вопрос залу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кто должен платить за ледоколы: бюджет, грузоотправитель или судовладелец?</a:t>
            </a:r>
            <a:endParaRPr lang="en-US" sz="1400" dirty="0"/>
          </a:p>
        </p:txBody>
      </p:sp>
      <p:sp>
        <p:nvSpPr>
          <p:cNvPr id="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проект Минтранса и документы Росатома по публикациям Коммерсантъ и The Insider (проект, не документ в силе)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Рейс по СМП: что на весах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18872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6187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≈21 день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1051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Ningbo–Felixstowe по СМП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457200" y="26974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38–45 дней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31927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тот же рейс через Суэц</a:t>
            </a:r>
            <a:endParaRPr lang="en-US" sz="1400" dirty="0"/>
          </a:p>
        </p:txBody>
      </p:sp>
      <p:sp>
        <p:nvSpPr>
          <p:cNvPr id="9" name="Карточка"/>
          <p:cNvSpPr/>
          <p:nvPr/>
        </p:nvSpPr>
        <p:spPr>
          <a:xfrm>
            <a:off x="3108960" y="1188720"/>
            <a:ext cx="2743200" cy="288036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128016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Даёт СМП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Меньше суток в рейсе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Меньше топлива и фрахтовой нагрузки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Исключительное право РФ-флага на углеводороды</a:t>
            </a:r>
            <a:endParaRPr lang="en-US" sz="1400" dirty="0"/>
          </a:p>
        </p:txBody>
      </p:sp>
      <p:sp>
        <p:nvSpPr>
          <p:cNvPr id="11" name="Карточка"/>
          <p:cNvSpPr/>
          <p:nvPr/>
        </p:nvSpPr>
        <p:spPr>
          <a:xfrm>
            <a:off x="5943600" y="1188720"/>
            <a:ext cx="2743200" cy="288036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80760" y="128016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Берёт СМП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Проводка и возможный сбор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Ледовый класс, страховая надбавка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Ожидание ледокола, окно навигации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Риск повреждения и буксировки</a:t>
            </a:r>
            <a:endParaRPr lang="en-US" sz="1400" dirty="0"/>
          </a:p>
        </p:txBody>
      </p:sp>
      <p:sp>
        <p:nvSpPr>
          <p:cNvPr id="13" name="Карточка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Рейс выгоден, если Δдней × стоимость судо-суток &gt; проводка + ледовые надбавки + риск простоя</a:t>
            </a:r>
            <a:endParaRPr lang="en-US" sz="1400" dirty="0"/>
          </a:p>
        </p:txBody>
      </p:sp>
      <p:sp>
        <p:nvSpPr>
          <p:cNvPr id="1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Meduza и Carnegie (время рейса, 2026); формула — рабочая модель для обсуждения, цифры подставляет компания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Safety first: рамка допуска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Судно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Polar Ship Certificate и PWOM; категории A, B, C по ледовой прочности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Карточка"/>
          <p:cNvSpPr/>
          <p:nvPr/>
        </p:nvSpPr>
        <p:spPr>
          <a:xfrm>
            <a:off x="2542032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Разрешение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Заявка в Администрацию СМП: судно, маршрут, даты плавания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15" name="Карточка"/>
          <p:cNvSpPr/>
          <p:nvPr/>
        </p:nvSpPr>
        <p:spPr>
          <a:xfrm>
            <a:off x="4626864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764024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Проводка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764024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Ледокольная и ледовая лоцманская проводка по правилам Минтранса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28816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21" name="Карточка"/>
          <p:cNvSpPr/>
          <p:nvPr/>
        </p:nvSpPr>
        <p:spPr>
          <a:xfrm>
            <a:off x="6711696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Экипаж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848856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Подготовка по Полярному кодексу, STCW: базовый и повышенный уровни</a:t>
            </a:r>
            <a:endParaRPr lang="en-US" sz="1300" dirty="0"/>
          </a:p>
        </p:txBody>
      </p:sp>
      <p:sp>
        <p:nvSpPr>
          <p:cNvPr id="26" name="Карточка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Восточный сектор зимой без ледокола недоступен: лёд до 3 м. Рамка допуска не про бюрократию, а про выживаемость рейса.</a:t>
            </a:r>
            <a:endParaRPr lang="en-US" sz="1400" dirty="0"/>
          </a:p>
        </p:txBody>
      </p:sp>
      <p:sp>
        <p:nvSpPr>
          <p:cNvPr id="2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Полярный кодекс ИМО/СОЛАС, STCW; Правила плавания в акватории СМП (ПП РФ № 1487); Ведомости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Лёд 2026: меньше льда ≠ меньше риска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14,29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максимум 15.03.2026, почти рекордный минимум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сентябрь 2026, 16-е место снизу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+ 5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спасательных судов принято в 2025–26 и буксиров до 2027</a:t>
            </a:r>
            <a:endParaRPr lang="en-US" sz="1400" dirty="0"/>
          </a:p>
        </p:txBody>
      </p:sp>
      <p:sp>
        <p:nvSpPr>
          <p:cNvPr id="12" name="Карточка"/>
          <p:cNvSpPr/>
          <p:nvPr/>
        </p:nvSpPr>
        <p:spPr>
          <a:xfrm>
            <a:off x="457200" y="2743200"/>
            <a:ext cx="822960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Лето 2026 было холодным и штормовым, а не «чистым ото льда».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 2007 г. сентябрьский лёд почти не убывает: окно открывается, но непредсказуемость остаётся.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Спасательный флот только растёт: полагаться нужно на собственную готовность.</a:t>
            </a:r>
            <a:endParaRPr lang="en-US" sz="1400" dirty="0"/>
          </a:p>
        </p:txBody>
      </p:sp>
      <p:sp>
        <p:nvSpPr>
          <p:cNvPr id="14" name="Вопрос залу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какой сигнал заставит вас отложить или отменить рейс?</a:t>
            </a:r>
            <a:endParaRPr lang="en-US" sz="1400" dirty="0"/>
          </a:p>
        </p:txBody>
      </p:sp>
      <p:sp>
        <p:nvSpPr>
          <p:cNvPr id="16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NSIDC, Met Office (end-of-season report, окт. 2026), Минтранс (А. Пошивай, ВЭФ, сентябрь 2026), Северный флот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Флаг и санкции: коротко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Флаг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Исключительное право судов под российским флагом на перевозку нефти, газа, СПГ, конденсата и угля по СМП. Требование строить такие суда в РФ (с 01.03.2026) пытались отсрочить: статус уточнить.</a:t>
            </a:r>
            <a:endParaRPr lang="en-US" sz="1400" dirty="0"/>
          </a:p>
        </p:txBody>
      </p:sp>
      <p:sp>
        <p:nvSpPr>
          <p:cNvPr id="8" name="Карточка"/>
          <p:cNvSpPr/>
          <p:nvPr/>
        </p:nvSpPr>
        <p:spPr>
          <a:xfrm>
            <a:off x="324612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338328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32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Арктик СПГ-2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3,6 млн т и 51 партия с января по 12.10.2026 (в 2025 г. было 1,4 млн т). Схема через перевалку в Мурманске и на Камчатке: санкционный контекст.</a:t>
            </a:r>
            <a:endParaRPr lang="en-US" sz="1400" dirty="0"/>
          </a:p>
        </p:txBody>
      </p:sp>
      <p:sp>
        <p:nvSpPr>
          <p:cNvPr id="13" name="Карточка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Для нас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Проверка контрагента и груза, страховое покрытие, платёжный канал и порты захода. Решаем до подписания чартера.</a:t>
            </a:r>
            <a:endParaRPr lang="en-US" sz="1400" dirty="0"/>
          </a:p>
        </p:txBody>
      </p:sp>
      <p:sp>
        <p:nvSpPr>
          <p:cNvPr id="1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Кодекс торгового мореплавания (ст. 4), Interfax, The Moscow Times (Reuters/LSEG); третий блок — практический вывод докладчика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Светофор: идти, ждать, отказаться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Сигнал ИДТИ"/>
          <p:cNvSpPr/>
          <p:nvPr/>
        </p:nvSpPr>
        <p:spPr>
          <a:xfrm>
            <a:off x="594360" y="13258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ИДТИ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Разрешение получено, проводка подтверждена, класс и экипаж подходят, страховка и платежи закрыты, окно навигации ясное.</a:t>
            </a:r>
            <a:endParaRPr lang="en-US" sz="1600" dirty="0"/>
          </a:p>
        </p:txBody>
      </p:sp>
      <p:sp>
        <p:nvSpPr>
          <p:cNvPr id="7" name="Карточка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8" name="Сигнал ЖДАТЬ"/>
          <p:cNvSpPr/>
          <p:nvPr/>
        </p:nvSpPr>
        <p:spPr>
          <a:xfrm>
            <a:off x="3383280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7764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ЖДАТЬ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Нет подтверждённой проводки или даты, нестабильный ледовый прогноз, не закрыт вопрос контрагента или оплаты.</a:t>
            </a:r>
            <a:endParaRPr lang="en-US" sz="1600" dirty="0"/>
          </a:p>
        </p:txBody>
      </p:sp>
      <p:sp>
        <p:nvSpPr>
          <p:cNvPr id="11" name="Карточка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2" name="Сигнал ОТКАЗАТЬСЯ"/>
          <p:cNvSpPr/>
          <p:nvPr/>
        </p:nvSpPr>
        <p:spPr>
          <a:xfrm>
            <a:off x="6172200" y="13258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ОТКАЗАТЬСЯ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Судно или экипаж не соответствует категории, нет автономности на задержку, страховщик не покрывает рейс.</a:t>
            </a:r>
            <a:endParaRPr lang="en-US" sz="1600" dirty="0"/>
          </a:p>
        </p:txBody>
      </p:sp>
      <p:sp>
        <p:nvSpPr>
          <p:cNvPr id="15" name="Карточка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Деньги считаем после того, как safety дало «зелёный». Это и есть баланс.</a:t>
            </a:r>
            <a:endParaRPr lang="en-US" sz="1400" dirty="0"/>
          </a:p>
        </p:txBody>
      </p:sp>
      <p:sp>
        <p:nvSpPr>
          <p:cNvPr id="17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Предложение докладчика для обсуждения; в основе: Полярный кодекс, Правила плавания в акватории СМП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Итоги и вопросы</a:t>
            </a:r>
            <a:endParaRPr lang="en-US" sz="2800" dirty="0"/>
          </a:p>
        </p:txBody>
      </p:sp>
      <p:sp>
        <p:nvSpPr>
          <p:cNvPr id="3" name="Итог Поток"/>
          <p:cNvSpPr/>
          <p:nvPr/>
        </p:nvSpPr>
        <p:spPr>
          <a:xfrm>
            <a:off x="45720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Поток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Плато около 37 млн т, ставка на 40+; основа — внутренние отгрузки, транзит менее 9%.</a:t>
            </a:r>
            <a:endParaRPr lang="en-US" sz="1400" dirty="0"/>
          </a:p>
        </p:txBody>
      </p:sp>
      <p:sp>
        <p:nvSpPr>
          <p:cNvPr id="6" name="Итог Деньги"/>
          <p:cNvSpPr/>
          <p:nvPr/>
        </p:nvSpPr>
        <p:spPr>
          <a:xfrm>
            <a:off x="324612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Деньги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Проводка дорожает: сбор и тарифы решают экономику рейса, а сухие грузы пока слабое звено.</a:t>
            </a:r>
            <a:endParaRPr lang="en-US" sz="1400" dirty="0"/>
          </a:p>
        </p:txBody>
      </p:sp>
      <p:sp>
        <p:nvSpPr>
          <p:cNvPr id="9" name="Итог Safety"/>
          <p:cNvSpPr/>
          <p:nvPr/>
        </p:nvSpPr>
        <p:spPr>
          <a:xfrm>
            <a:off x="603504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Допуск, проводка, экипаж, автономность. Лёд меньше, риск не меньше.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для обсуждения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Какие рейсы по СМП реально окупаются для нашего флота и в какой сезон?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Где предел цены проводки, после которого мы идём другим маршрутом?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Что нам нужно от государства: тариф, график, спасательный флот?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Источники и что проверить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Государственные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Росатом / «Росатомфлот»: итоги навигации 2025, прогноз 2026 (А. Лихачев)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Минтранс: прогноз 2026, аварийно-спасательный флот, проект сбора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Минвостокразвития: контейнерные рейсы, тарифная позиция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Правительство РФ: ПП № 1487 от 18.09.2020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Международные для сверки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Carnegie, NSIDC, Met Office, Reuters/LSEG, Meduza</a:t>
            </a:r>
            <a:endParaRPr lang="en-US" sz="1400" dirty="0"/>
          </a:p>
        </p:txBody>
      </p:sp>
      <p:sp>
        <p:nvSpPr>
          <p:cNvPr id="4" name="Карточка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846320" y="123444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Перед выступлением перепроверить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Итоги навигации 2026 (идёт сезон)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Статус сбора и тарифов (проект, не документ в силе)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Отсрочка требования о российской постройке судов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Цифры по сухим грузам и ледовые данные ААНИИ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Часть цифр взята из пересказов СМИ, а не из первоисточников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ctic Route">
  <a:themeElements>
    <a:clrScheme name="Arctic Route">
      <a:dk1>
        <a:srgbClr val="0B1F33"/>
      </a:dk1>
      <a:lt1>
        <a:srgbClr val="FFFFFF"/>
      </a:lt1>
      <a:dk2>
        <a:srgbClr val="12395B"/>
      </a:dk2>
      <a:lt2>
        <a:srgbClr val="EAF3F7"/>
      </a:lt2>
      <a:accent1>
        <a:srgbClr val="1B9AAA"/>
      </a:accent1>
      <a:accent2>
        <a:srgbClr val="E8771E"/>
      </a:accent2>
      <a:accent3>
        <a:srgbClr val="3E6E8E"/>
      </a:accent3>
      <a:accent4>
        <a:srgbClr val="7FC8D6"/>
      </a:accent4>
      <a:accent5>
        <a:srgbClr val="C0392B"/>
      </a:accent5>
      <a:accent6>
        <a:srgbClr val="2E8B5A"/>
      </a:accent6>
      <a:hlink>
        <a:srgbClr val="1B9AAA"/>
      </a:hlink>
      <a:folHlink>
        <a:srgbClr val="3E6E8E"/>
      </a:folHlink>
    </a:clrScheme>
    <a:fontScheme name="Arctic Rou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Арктика: деньги и безопасность</dc:title>
  <dc:subject>PptxGenJS Presentation</dc:subject>
  <dc:creator>Береговой офис</dc:creator>
  <cp:lastModifiedBy>Береговой офис</cp:lastModifiedBy>
  <cp:revision>1</cp:revision>
  <dcterms:created xsi:type="dcterms:W3CDTF">2026-10-17T13:20:16Z</dcterms:created>
  <dcterms:modified xsi:type="dcterms:W3CDTF">2026-10-17T13:20:16Z</dcterms:modified>
</cp:coreProperties>
</file>